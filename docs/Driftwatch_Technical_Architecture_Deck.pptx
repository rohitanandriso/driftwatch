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thesis: Driftwatch changes the unit of AI security from the individual prompt to the session and extends the same stateful policy to tool traffic and browser data egress.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same security principle appears in three surfaces: remember context, correlate events, then enforce at the boundary you actually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distinction: full quarantine is available for owned agents; browser guard controls the managed browser egress point instead of claiming control over a hosted SaaS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left-to-right. Stress that the session state object is the center of gravity, not the gateway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technical slide. Explain why session state is the new security primitive.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describing Browser Guard as fully production-grade DLP; present it as working prototype plus enterprise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recorded Chat Firewall clip in the live presentation. Mention the original evaluation harness separately from multilingual demo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MCP boundary is strategically valuable: it is the choke point for real data access and side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wording is important: insider risk includes malicious or inadvertent data exposure. Focus on boundary control, not employee surveillance.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preempt the “English only?” question. Keep claims limited to demo validation, not universal multilingual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differentiator. Make the distinction between a verdict on a request and a security state on an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integration claims honest. The engine, detectors, MCP interception, TLS, Browser Guard prototype, and demos are working; production service integrations are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evaluation scope. This increases credibility with security reviewers.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ideal for technical Q&amp;A: reviewers can quickly see which claims are implemented and which are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technical section with a pragmatic rollout path. Security reviewers will appreciate dry-run and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product thesis, then move to questions. The QR codes point to the live landing page and source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9D9F7"/>
          </a:solidFill>
          <a:ln w="12700">
            <a:solidFill>
              <a:srgbClr val="39D9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64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8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64648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0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· Microsoft Hackathon — Hack SFI with AI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digital_cybersecurity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71019">
              <a:alpha val="94000"/>
            </a:srgbClr>
          </a:solidFill>
          <a:ln w="12700">
            <a:solidFill>
              <a:srgbClr val="0710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566928"/>
            <a:ext cx="2880360" cy="283464"/>
          </a:xfrm>
          <a:prstGeom prst="roundRect">
            <a:avLst>
              <a:gd name="adj" fmla="val 51613"/>
            </a:avLst>
          </a:prstGeom>
          <a:solidFill>
            <a:srgbClr val="0A1E28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" y="5760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HACKATHON · HACK SFI WITH AI</a:t>
            </a:r>
            <a:endParaRPr lang="en-US" sz="94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17043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645920"/>
            <a:ext cx="5852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Security Design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090672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4D5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stateful security control plane for conversations, agent tool activity, and insider-risk data egress to public AI.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3159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firewall that remembers.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66928" y="5074920"/>
            <a:ext cx="1371600" cy="283464"/>
          </a:xfrm>
          <a:prstGeom prst="roundRect">
            <a:avLst>
              <a:gd name="adj" fmla="val 51613"/>
            </a:avLst>
          </a:prstGeom>
          <a:solidFill>
            <a:srgbClr val="0D211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2648" y="5084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Firewall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2084832" y="5074920"/>
            <a:ext cx="1325880" cy="283464"/>
          </a:xfrm>
          <a:prstGeom prst="roundRect">
            <a:avLst>
              <a:gd name="adj" fmla="val 51613"/>
            </a:avLst>
          </a:prstGeom>
          <a:solidFill>
            <a:srgbClr val="111B2D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30552" y="5084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Gateway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3575304" y="5074920"/>
            <a:ext cx="1417320" cy="283464"/>
          </a:xfrm>
          <a:prstGeom prst="roundRect">
            <a:avLst>
              <a:gd name="adj" fmla="val 51613"/>
            </a:avLst>
          </a:prstGeom>
          <a:solidFill>
            <a:srgbClr val="271B12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21024" y="50840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Guard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806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Rohit Anand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071616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deck · prototype architecture and validation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gaps appear when security looks at isolated events.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technical design starts from the observation that the attack or data-loss condition may only emerge after multiple turns, tools, or browser actions.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971800" cy="2971800"/>
          </a:xfrm>
          <a:prstGeom prst="roundRect">
            <a:avLst>
              <a:gd name="adj" fmla="val 4923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395728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414016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414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GAP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drift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52044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Individually acceptable prompts can form a multi-turn jailbreak, repeated secret-probing pattern, or cumulative exfiltration sequence.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" y="4727448"/>
            <a:ext cx="841248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736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160520" y="2148840"/>
            <a:ext cx="2971800" cy="2971800"/>
          </a:xfrm>
          <a:prstGeom prst="roundRect">
            <a:avLst>
              <a:gd name="adj" fmla="val 4923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2395728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9976" y="2414016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2414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GAP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4379976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Tool-chain abuse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379976" y="352044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Individually authorized tool calls can become harmful in sequence: sensitive read → untrusted content → external sink.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9976" y="4727448"/>
            <a:ext cx="841248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25696" y="4736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772400" y="2148840"/>
            <a:ext cx="2971800" cy="2971800"/>
          </a:xfrm>
          <a:prstGeom prst="roundRect">
            <a:avLst>
              <a:gd name="adj" fmla="val 4923"/>
            </a:avLst>
          </a:prstGeom>
          <a:solidFill>
            <a:srgbClr val="121A21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91856" y="2395728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91856" y="2414016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⇥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13648" y="2414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GAP</a:t>
            </a:r>
            <a:endParaRPr lang="en-US" sz="920" dirty="0"/>
          </a:p>
        </p:txBody>
      </p:sp>
      <p:sp>
        <p:nvSpPr>
          <p:cNvPr id="25" name="Text 23"/>
          <p:cNvSpPr txBox="1"/>
          <p:nvPr/>
        </p:nvSpPr>
        <p:spPr>
          <a:xfrm>
            <a:off x="7991856" y="2990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Insider-risk AI egress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991856" y="3520440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enterprise data can leave a managed endpoint through public AI services even when access uses a personal account outside enterprise identity governance.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91856" y="4727448"/>
            <a:ext cx="841248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37576" y="4736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EGRESS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enforce at the trust boundary, but retain shared security context across the entire session.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stateful security brain. Three enforcement points.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 keeps a shared session model and attaches at the conversation, MCP, or managed-browser boundary depending on where control is possible.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3364992" y="1993392"/>
            <a:ext cx="5486400" cy="1143000"/>
          </a:xfrm>
          <a:prstGeom prst="roundRect">
            <a:avLst>
              <a:gd name="adj" fmla="val 12800"/>
            </a:avLst>
          </a:prstGeom>
          <a:solidFill>
            <a:srgbClr val="0A2632"/>
          </a:solidFill>
          <a:ln w="12700">
            <a:solidFill>
              <a:srgbClr val="2B7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11880" y="2176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 STATEFUL CONTROL PLANE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state · detectors · risk correlation · verdict policy · containment · telemetry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3685032"/>
            <a:ext cx="3017520" cy="1627632"/>
          </a:xfrm>
          <a:prstGeom prst="roundRect">
            <a:avLst>
              <a:gd name="adj" fmla="val 898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38404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Firewall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427024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User/App → Driftwatch → Model/Agent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828032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· FLAG · BLOCK · TERMINATE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108192" y="3154680"/>
            <a:ext cx="-3977640" cy="502920"/>
          </a:xfrm>
          <a:prstGeom prst="line">
            <a:avLst/>
          </a:prstGeom>
          <a:noFill/>
          <a:ln w="13970">
            <a:solidFill>
              <a:srgbClr val="3E5E7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60520" y="3685032"/>
            <a:ext cx="3017520" cy="1627632"/>
          </a:xfrm>
          <a:prstGeom prst="roundRect">
            <a:avLst>
              <a:gd name="adj" fmla="val 898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25112" y="38404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Gateway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25112" y="427024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→ Driftwatch → MCP Tools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325112" y="4828032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SINK · QUARANTINE AGENT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108192" y="3154680"/>
            <a:ext cx="-438912" cy="502920"/>
          </a:xfrm>
          <a:prstGeom prst="line">
            <a:avLst/>
          </a:prstGeom>
          <a:noFill/>
          <a:ln w="13970">
            <a:solidFill>
              <a:srgbClr val="3E5E7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99248" y="3685032"/>
            <a:ext cx="3017520" cy="1627632"/>
          </a:xfrm>
          <a:prstGeom prst="roundRect">
            <a:avLst>
              <a:gd name="adj" fmla="val 898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38404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Guard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270248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Browser → Driftwatch → Public AI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828032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SECRET · WARN / BLOCK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108192" y="3154680"/>
            <a:ext cx="3099816" cy="502920"/>
          </a:xfrm>
          <a:prstGeom prst="line">
            <a:avLst/>
          </a:prstGeom>
          <a:noFill/>
          <a:ln w="13970">
            <a:solidFill>
              <a:srgbClr val="3E5E72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engine is shared; the enforcement semantics differ by surface.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is the control plane; gateways are the attachment points.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message, tool call, tool result, and browser egress event is normalized into session state before detectors and policy evaluate the next action.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508760" cy="822960"/>
          </a:xfrm>
          <a:prstGeom prst="roundRect">
            <a:avLst>
              <a:gd name="adj" fmla="val 20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276856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App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57860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traffic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1508760" cy="822960"/>
          </a:xfrm>
          <a:prstGeom prst="roundRect">
            <a:avLst>
              <a:gd name="adj" fmla="val 20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3374136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367588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activity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02920" y="4343400"/>
            <a:ext cx="1508760" cy="822960"/>
          </a:xfrm>
          <a:prstGeom prst="roundRect">
            <a:avLst>
              <a:gd name="adj" fmla="val 20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4471416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Browser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477316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AI egress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514600" y="2148840"/>
            <a:ext cx="1600200" cy="822960"/>
          </a:xfrm>
          <a:prstGeom prst="roundRect">
            <a:avLst>
              <a:gd name="adj" fmla="val 20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24328" y="227685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Gateway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2624328" y="257860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+ response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2514600" y="3246120"/>
            <a:ext cx="1600200" cy="822960"/>
          </a:xfrm>
          <a:prstGeom prst="roundRect">
            <a:avLst>
              <a:gd name="adj" fmla="val 20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24328" y="337413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Gateway</a:t>
            </a:r>
            <a:endParaRPr lang="en-US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2624328" y="367588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+ result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514600" y="4343400"/>
            <a:ext cx="1600200" cy="822960"/>
          </a:xfrm>
          <a:prstGeom prst="roundRect">
            <a:avLst>
              <a:gd name="adj" fmla="val 20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24328" y="447141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Guard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2624328" y="477316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pre-send inspect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736592" y="1984248"/>
            <a:ext cx="2907792" cy="3346704"/>
          </a:xfrm>
          <a:prstGeom prst="roundRect">
            <a:avLst>
              <a:gd name="adj" fmla="val 5031"/>
            </a:avLst>
          </a:prstGeom>
          <a:solidFill>
            <a:srgbClr val="0A202C"/>
          </a:solidFill>
          <a:ln w="12700">
            <a:solidFill>
              <a:srgbClr val="2B76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10912" y="221284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STATEFUL ENGINE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56632" y="26700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State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5074920" y="3063240"/>
            <a:ext cx="2240280" cy="0"/>
          </a:xfrm>
          <a:prstGeom prst="line">
            <a:avLst/>
          </a:prstGeom>
          <a:noFill/>
          <a:ln w="12700">
            <a:solidFill>
              <a:srgbClr val="294757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5212080" y="3182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 history</a:t>
            </a:r>
            <a:endParaRPr lang="en-US" sz="103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 provenance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3803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sensitive release count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refusal cycles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44256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quarantine state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7973568" y="1984248"/>
            <a:ext cx="1828800" cy="3346704"/>
          </a:xfrm>
          <a:prstGeom prst="roundRect">
            <a:avLst>
              <a:gd name="adj" fmla="val 8000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11312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165592" y="26426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drift</a:t>
            </a:r>
            <a:endParaRPr lang="en-US" sz="970" dirty="0"/>
          </a:p>
        </p:txBody>
      </p:sp>
      <p:sp>
        <p:nvSpPr>
          <p:cNvPr id="35" name="Text 33"/>
          <p:cNvSpPr txBox="1"/>
          <p:nvPr/>
        </p:nvSpPr>
        <p:spPr>
          <a:xfrm>
            <a:off x="8165592" y="30175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probe</a:t>
            </a:r>
            <a:endParaRPr lang="en-US" sz="970" dirty="0"/>
          </a:p>
        </p:txBody>
      </p:sp>
      <p:sp>
        <p:nvSpPr>
          <p:cNvPr id="36" name="Text 34"/>
          <p:cNvSpPr txBox="1"/>
          <p:nvPr/>
        </p:nvSpPr>
        <p:spPr>
          <a:xfrm>
            <a:off x="8165592" y="33924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Exfil budget</a:t>
            </a:r>
            <a:endParaRPr lang="en-US" sz="970" dirty="0"/>
          </a:p>
        </p:txBody>
      </p:sp>
      <p:sp>
        <p:nvSpPr>
          <p:cNvPr id="37" name="Text 35"/>
          <p:cNvSpPr txBox="1"/>
          <p:nvPr/>
        </p:nvSpPr>
        <p:spPr>
          <a:xfrm>
            <a:off x="8165592" y="37673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chain</a:t>
            </a:r>
            <a:endParaRPr lang="en-US" sz="970" dirty="0"/>
          </a:p>
        </p:txBody>
      </p:sp>
      <p:sp>
        <p:nvSpPr>
          <p:cNvPr id="38" name="Text 36"/>
          <p:cNvSpPr txBox="1"/>
          <p:nvPr/>
        </p:nvSpPr>
        <p:spPr>
          <a:xfrm>
            <a:off x="8165592" y="41422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 probe</a:t>
            </a:r>
            <a:endParaRPr lang="en-US" sz="970" dirty="0"/>
          </a:p>
        </p:txBody>
      </p:sp>
      <p:sp>
        <p:nvSpPr>
          <p:cNvPr id="39" name="Text 37"/>
          <p:cNvSpPr txBox="1"/>
          <p:nvPr/>
        </p:nvSpPr>
        <p:spPr>
          <a:xfrm>
            <a:off x="8165592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egress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10058400" y="1984248"/>
            <a:ext cx="1600200" cy="3346704"/>
          </a:xfrm>
          <a:prstGeom prst="roundRect">
            <a:avLst>
              <a:gd name="adj" fmla="val 9143"/>
            </a:avLst>
          </a:prstGeom>
          <a:solidFill>
            <a:srgbClr val="101922"/>
          </a:solidFill>
          <a:ln w="12700">
            <a:solidFill>
              <a:srgbClr val="3A475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314432" y="22128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32720" y="2679192"/>
            <a:ext cx="1033272" cy="283464"/>
          </a:xfrm>
          <a:prstGeom prst="roundRect">
            <a:avLst>
              <a:gd name="adj" fmla="val 51613"/>
            </a:avLst>
          </a:prstGeom>
          <a:solidFill>
            <a:srgbClr val="10202A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378440" y="268833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10332720" y="3136392"/>
            <a:ext cx="1033272" cy="283464"/>
          </a:xfrm>
          <a:prstGeom prst="roundRect">
            <a:avLst>
              <a:gd name="adj" fmla="val 51613"/>
            </a:avLst>
          </a:prstGeom>
          <a:solidFill>
            <a:srgbClr val="10202A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378440" y="314553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BC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10332720" y="3593592"/>
            <a:ext cx="1033272" cy="283464"/>
          </a:xfrm>
          <a:prstGeom prst="roundRect">
            <a:avLst>
              <a:gd name="adj" fmla="val 51613"/>
            </a:avLst>
          </a:prstGeom>
          <a:solidFill>
            <a:srgbClr val="10202A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378440" y="360273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10332720" y="4050792"/>
            <a:ext cx="1033272" cy="283464"/>
          </a:xfrm>
          <a:prstGeom prst="roundRect">
            <a:avLst>
              <a:gd name="adj" fmla="val 51613"/>
            </a:avLst>
          </a:prstGeom>
          <a:solidFill>
            <a:srgbClr val="10202A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378440" y="405993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10332720" y="4507992"/>
            <a:ext cx="1033272" cy="283464"/>
          </a:xfrm>
          <a:prstGeom prst="roundRect">
            <a:avLst>
              <a:gd name="adj" fmla="val 51613"/>
            </a:avLst>
          </a:prstGeom>
          <a:solidFill>
            <a:srgbClr val="2A1118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378440" y="451713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TERMINATE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2011680" y="2560320"/>
            <a:ext cx="475488" cy="0"/>
          </a:xfrm>
          <a:prstGeom prst="line">
            <a:avLst/>
          </a:prstGeom>
          <a:noFill/>
          <a:ln w="15240">
            <a:solidFill>
              <a:srgbClr val="477287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114800" y="2560320"/>
            <a:ext cx="594360" cy="0"/>
          </a:xfrm>
          <a:prstGeom prst="line">
            <a:avLst/>
          </a:prstGeom>
          <a:noFill/>
          <a:ln w="15240">
            <a:solidFill>
              <a:srgbClr val="477287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011680" y="3657600"/>
            <a:ext cx="475488" cy="0"/>
          </a:xfrm>
          <a:prstGeom prst="line">
            <a:avLst/>
          </a:prstGeom>
          <a:noFill/>
          <a:ln w="15240">
            <a:solidFill>
              <a:srgbClr val="477287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114800" y="3657600"/>
            <a:ext cx="594360" cy="0"/>
          </a:xfrm>
          <a:prstGeom prst="line">
            <a:avLst/>
          </a:prstGeom>
          <a:noFill/>
          <a:ln w="15240">
            <a:solidFill>
              <a:srgbClr val="477287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011680" y="4754880"/>
            <a:ext cx="475488" cy="0"/>
          </a:xfrm>
          <a:prstGeom prst="line">
            <a:avLst/>
          </a:prstGeom>
          <a:noFill/>
          <a:ln w="15240">
            <a:solidFill>
              <a:srgbClr val="477287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114800" y="4754880"/>
            <a:ext cx="594360" cy="0"/>
          </a:xfrm>
          <a:prstGeom prst="line">
            <a:avLst/>
          </a:prstGeom>
          <a:noFill/>
          <a:ln w="15240">
            <a:solidFill>
              <a:srgbClr val="477287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635240" y="3657600"/>
            <a:ext cx="320040" cy="0"/>
          </a:xfrm>
          <a:prstGeom prst="line">
            <a:avLst/>
          </a:prstGeom>
          <a:noFill/>
          <a:ln w="1905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802368" y="3657600"/>
            <a:ext cx="237744" cy="0"/>
          </a:xfrm>
          <a:prstGeom prst="line">
            <a:avLst/>
          </a:prstGeom>
          <a:noFill/>
          <a:ln w="1905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event model lets one detector engine operate across conversation, tool, and browser surfaces.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firewall remembers the security-relevant history, not just the latest prompt.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state object is keyed to a session/agent identity and re-evaluated on every inbound, outbound, and tool-boundary event.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4892040" cy="3383280"/>
          </a:xfrm>
          <a:prstGeom prst="roundRect">
            <a:avLst>
              <a:gd name="adj" fmla="val 432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591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Per-session state object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2798064"/>
            <a:ext cx="4352544" cy="0"/>
          </a:xfrm>
          <a:prstGeom prst="line">
            <a:avLst/>
          </a:prstGeom>
          <a:noFill/>
          <a:ln w="10160">
            <a:solidFill>
              <a:srgbClr val="20364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987552" y="2843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turns[]</a:t>
            </a:r>
            <a:endParaRPr lang="en-US" sz="1070" dirty="0"/>
          </a:p>
        </p:txBody>
      </p:sp>
      <p:sp>
        <p:nvSpPr>
          <p:cNvPr id="9" name="Text 7"/>
          <p:cNvSpPr txBox="1"/>
          <p:nvPr/>
        </p:nvSpPr>
        <p:spPr>
          <a:xfrm>
            <a:off x="2450592" y="28437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+ text + timestamps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2688" y="3227832"/>
            <a:ext cx="4352544" cy="0"/>
          </a:xfrm>
          <a:prstGeom prst="line">
            <a:avLst/>
          </a:prstGeom>
          <a:noFill/>
          <a:ln w="10160">
            <a:solidFill>
              <a:srgbClr val="203646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987552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tool_calls[]</a:t>
            </a:r>
            <a:endParaRPr lang="en-US" sz="1070" dirty="0"/>
          </a:p>
        </p:txBody>
      </p:sp>
      <p:sp>
        <p:nvSpPr>
          <p:cNvPr id="12" name="Text 10"/>
          <p:cNvSpPr txBox="1"/>
          <p:nvPr/>
        </p:nvSpPr>
        <p:spPr>
          <a:xfrm>
            <a:off x="2450592" y="32735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+ args + result + provenance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2688" y="3657600"/>
            <a:ext cx="4352544" cy="0"/>
          </a:xfrm>
          <a:prstGeom prst="line">
            <a:avLst/>
          </a:prstGeom>
          <a:noFill/>
          <a:ln w="10160">
            <a:solidFill>
              <a:srgbClr val="203646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987552" y="3703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released_records</a:t>
            </a:r>
            <a:endParaRPr lang="en-US" sz="1070" dirty="0"/>
          </a:p>
        </p:txBody>
      </p:sp>
      <p:sp>
        <p:nvSpPr>
          <p:cNvPr id="15" name="Text 13"/>
          <p:cNvSpPr txBox="1"/>
          <p:nvPr/>
        </p:nvSpPr>
        <p:spPr>
          <a:xfrm>
            <a:off x="2450592" y="3703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sensitive records / budget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2688" y="4087368"/>
            <a:ext cx="4352544" cy="0"/>
          </a:xfrm>
          <a:prstGeom prst="line">
            <a:avLst/>
          </a:prstGeom>
          <a:noFill/>
          <a:ln w="10160">
            <a:solidFill>
              <a:srgbClr val="203646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987552" y="4133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refusal_cycles</a:t>
            </a:r>
            <a:endParaRPr lang="en-US" sz="1070" dirty="0"/>
          </a:p>
        </p:txBody>
      </p:sp>
      <p:sp>
        <p:nvSpPr>
          <p:cNvPr id="18" name="Text 16"/>
          <p:cNvSpPr txBox="1"/>
          <p:nvPr/>
        </p:nvSpPr>
        <p:spPr>
          <a:xfrm>
            <a:off x="2450592" y="41330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 → rephrase → retry history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" y="4517136"/>
            <a:ext cx="4352544" cy="0"/>
          </a:xfrm>
          <a:prstGeom prst="line">
            <a:avLst/>
          </a:prstGeom>
          <a:noFill/>
          <a:ln w="10160">
            <a:solidFill>
              <a:srgbClr val="203646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987552" y="45628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taint / trust</a:t>
            </a:r>
            <a:endParaRPr lang="en-US" sz="1070" dirty="0"/>
          </a:p>
        </p:txBody>
      </p:sp>
      <p:sp>
        <p:nvSpPr>
          <p:cNvPr id="21" name="Text 19"/>
          <p:cNvSpPr txBox="1"/>
          <p:nvPr/>
        </p:nvSpPr>
        <p:spPr>
          <a:xfrm>
            <a:off x="2450592" y="45628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untrusted content + sink context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2688" y="4946904"/>
            <a:ext cx="4352544" cy="0"/>
          </a:xfrm>
          <a:prstGeom prst="line">
            <a:avLst/>
          </a:prstGeom>
          <a:noFill/>
          <a:ln w="10160">
            <a:solidFill>
              <a:srgbClr val="203646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987552" y="49926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 + killed</a:t>
            </a:r>
            <a:endParaRPr lang="en-US" sz="1070" dirty="0"/>
          </a:p>
        </p:txBody>
      </p:sp>
      <p:sp>
        <p:nvSpPr>
          <p:cNvPr id="24" name="Text 22"/>
          <p:cNvSpPr txBox="1"/>
          <p:nvPr/>
        </p:nvSpPr>
        <p:spPr>
          <a:xfrm>
            <a:off x="2450592" y="49926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action + quarantine 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212848"/>
            <a:ext cx="1207008" cy="685800"/>
          </a:xfrm>
          <a:prstGeom prst="roundRect">
            <a:avLst>
              <a:gd name="adj" fmla="val 24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44768" y="2340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280" dirty="0"/>
          </a:p>
        </p:txBody>
      </p:sp>
      <p:sp>
        <p:nvSpPr>
          <p:cNvPr id="27" name="Text 25"/>
          <p:cNvSpPr txBox="1"/>
          <p:nvPr/>
        </p:nvSpPr>
        <p:spPr>
          <a:xfrm>
            <a:off x="6144768" y="2642616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/ tool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7607808" y="2212848"/>
            <a:ext cx="1207008" cy="685800"/>
          </a:xfrm>
          <a:prstGeom prst="roundRect">
            <a:avLst>
              <a:gd name="adj" fmla="val 24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17536" y="2340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280" dirty="0"/>
          </a:p>
        </p:txBody>
      </p:sp>
      <p:sp>
        <p:nvSpPr>
          <p:cNvPr id="30" name="Text 28"/>
          <p:cNvSpPr txBox="1"/>
          <p:nvPr/>
        </p:nvSpPr>
        <p:spPr>
          <a:xfrm>
            <a:off x="7717536" y="2642616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state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180576" y="2212848"/>
            <a:ext cx="1207008" cy="685800"/>
          </a:xfrm>
          <a:prstGeom prst="roundRect">
            <a:avLst>
              <a:gd name="adj" fmla="val 24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90304" y="2340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280" dirty="0"/>
          </a:p>
        </p:txBody>
      </p:sp>
      <p:sp>
        <p:nvSpPr>
          <p:cNvPr id="33" name="Text 31"/>
          <p:cNvSpPr txBox="1"/>
          <p:nvPr/>
        </p:nvSpPr>
        <p:spPr>
          <a:xfrm>
            <a:off x="9290304" y="2642616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10753344" y="2212848"/>
            <a:ext cx="1207008" cy="685800"/>
          </a:xfrm>
          <a:prstGeom prst="roundRect">
            <a:avLst>
              <a:gd name="adj" fmla="val 24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863072" y="2340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280" dirty="0"/>
          </a:p>
        </p:txBody>
      </p:sp>
      <p:sp>
        <p:nvSpPr>
          <p:cNvPr id="36" name="Text 34"/>
          <p:cNvSpPr txBox="1"/>
          <p:nvPr/>
        </p:nvSpPr>
        <p:spPr>
          <a:xfrm>
            <a:off x="10863072" y="2642616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verdict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7251192" y="2560320"/>
            <a:ext cx="320040" cy="0"/>
          </a:xfrm>
          <a:prstGeom prst="line">
            <a:avLst/>
          </a:prstGeom>
          <a:noFill/>
          <a:ln w="1651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823960" y="2560320"/>
            <a:ext cx="320040" cy="0"/>
          </a:xfrm>
          <a:prstGeom prst="line">
            <a:avLst/>
          </a:prstGeom>
          <a:noFill/>
          <a:ln w="1651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396728" y="2560320"/>
            <a:ext cx="320040" cy="0"/>
          </a:xfrm>
          <a:prstGeom prst="line">
            <a:avLst/>
          </a:prstGeom>
          <a:noFill/>
          <a:ln w="1651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053328" y="3383280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Corroboration matters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035040" y="3794760"/>
            <a:ext cx="2468880" cy="1280160"/>
          </a:xfrm>
          <a:prstGeom prst="roundRect">
            <a:avLst>
              <a:gd name="adj" fmla="val 1142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17920" y="39502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C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CAUTIOUS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4233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weak signal</a:t>
            </a:r>
            <a:endParaRPr lang="en-US" sz="1650" dirty="0"/>
          </a:p>
        </p:txBody>
      </p:sp>
      <p:sp>
        <p:nvSpPr>
          <p:cNvPr id="44" name="Text 42"/>
          <p:cNvSpPr txBox="1"/>
          <p:nvPr/>
        </p:nvSpPr>
        <p:spPr>
          <a:xfrm>
            <a:off x="6217920" y="4645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/ FLAG. Intent drift alone can be downgraded because it is inferential.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732520" y="3794760"/>
            <a:ext cx="2468880" cy="1280160"/>
          </a:xfrm>
          <a:prstGeom prst="roundRect">
            <a:avLst>
              <a:gd name="adj" fmla="val 1142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15400" y="39502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915400" y="42336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 signals</a:t>
            </a:r>
            <a:endParaRPr lang="en-US" sz="1650" dirty="0"/>
          </a:p>
        </p:txBody>
      </p:sp>
      <p:sp>
        <p:nvSpPr>
          <p:cNvPr id="48" name="Text 46"/>
          <p:cNvSpPr txBox="1"/>
          <p:nvPr/>
        </p:nvSpPr>
        <p:spPr>
          <a:xfrm>
            <a:off x="8915400" y="4645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when intent drift is corroborated by probing, exfiltration, refusal, or tool-chain evidence.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design separates evidence accumulation from the final enforcement policy.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session detectors + browser egress signals.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detector is intentionally narrow. The value comes from combining them over time rather than asking one classifier to infer everything.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154680" cy="1444752"/>
          </a:xfrm>
          <a:prstGeom prst="roundRect">
            <a:avLst>
              <a:gd name="adj" fmla="val 1012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40280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5856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128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Drift</a:t>
            </a:r>
            <a:endParaRPr lang="en-US" sz="152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724912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trajectory of small, persistent semantic steps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706624" y="3127248"/>
            <a:ext cx="694944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52344" y="313639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050792" y="2057400"/>
            <a:ext cx="3154680" cy="1444752"/>
          </a:xfrm>
          <a:prstGeom prst="roundRect">
            <a:avLst>
              <a:gd name="adj" fmla="val 1012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5384" y="2240280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15384" y="225856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2128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Probing</a:t>
            </a:r>
            <a:endParaRPr lang="en-US" sz="1520" dirty="0"/>
          </a:p>
        </p:txBody>
      </p:sp>
      <p:sp>
        <p:nvSpPr>
          <p:cNvPr id="16" name="Text 14"/>
          <p:cNvSpPr txBox="1"/>
          <p:nvPr/>
        </p:nvSpPr>
        <p:spPr>
          <a:xfrm>
            <a:off x="4215384" y="2724912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requests for keys, passwords, credentials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08776" y="3127248"/>
            <a:ext cx="694944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313639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552944" y="2057400"/>
            <a:ext cx="3154680" cy="1444752"/>
          </a:xfrm>
          <a:prstGeom prst="roundRect">
            <a:avLst>
              <a:gd name="adj" fmla="val 1012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17536" y="2240280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17536" y="225856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22128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Exfiltration Budget</a:t>
            </a:r>
            <a:endParaRPr lang="en-US" sz="1520" dirty="0"/>
          </a:p>
        </p:txBody>
      </p:sp>
      <p:sp>
        <p:nvSpPr>
          <p:cNvPr id="23" name="Text 21"/>
          <p:cNvSpPr txBox="1"/>
          <p:nvPr/>
        </p:nvSpPr>
        <p:spPr>
          <a:xfrm>
            <a:off x="7717536" y="2724912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distinct sensitive release across session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710928" y="3127248"/>
            <a:ext cx="694944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56648" y="313639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3154680" cy="1444752"/>
          </a:xfrm>
          <a:prstGeom prst="roundRect">
            <a:avLst>
              <a:gd name="adj" fmla="val 1012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114800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13308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408736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Chain</a:t>
            </a:r>
            <a:endParaRPr lang="en-US" sz="152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599432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read + untrusted content + external sink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706624" y="5001768"/>
            <a:ext cx="694944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52344" y="501091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050792" y="3931920"/>
            <a:ext cx="3154680" cy="1444752"/>
          </a:xfrm>
          <a:prstGeom prst="roundRect">
            <a:avLst>
              <a:gd name="adj" fmla="val 1012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5384" y="4114800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15384" y="413308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BC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28032" y="408736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 Probing</a:t>
            </a:r>
            <a:endParaRPr lang="en-US" sz="1520" dirty="0"/>
          </a:p>
        </p:txBody>
      </p:sp>
      <p:sp>
        <p:nvSpPr>
          <p:cNvPr id="37" name="Text 35"/>
          <p:cNvSpPr txBox="1"/>
          <p:nvPr/>
        </p:nvSpPr>
        <p:spPr>
          <a:xfrm>
            <a:off x="4215384" y="4599432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 → rephrase → retry loops across turns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208776" y="5001768"/>
            <a:ext cx="694944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54496" y="501091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BC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7552944" y="3931920"/>
            <a:ext cx="3154680" cy="1444752"/>
          </a:xfrm>
          <a:prstGeom prst="roundRect">
            <a:avLst>
              <a:gd name="adj" fmla="val 1012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17536" y="4114800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0A2632"/>
          </a:solidFill>
          <a:ln w="12700">
            <a:solidFill>
              <a:srgbClr val="1C667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17536" y="4133088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⇥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330184" y="408736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Egress</a:t>
            </a:r>
            <a:endParaRPr lang="en-US" sz="1520" dirty="0"/>
          </a:p>
        </p:txBody>
      </p:sp>
      <p:sp>
        <p:nvSpPr>
          <p:cNvPr id="44" name="Text 42"/>
          <p:cNvSpPr txBox="1"/>
          <p:nvPr/>
        </p:nvSpPr>
        <p:spPr>
          <a:xfrm>
            <a:off x="7717536" y="4599432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patterns and enterprise data leaving browser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9710928" y="5001768"/>
            <a:ext cx="694944" cy="283464"/>
          </a:xfrm>
          <a:prstGeom prst="roundRect">
            <a:avLst>
              <a:gd name="adj" fmla="val 51613"/>
            </a:avLst>
          </a:prstGeom>
          <a:solidFill>
            <a:srgbClr val="0E202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756648" y="501091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4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multilingual demonstrations extend Secret Probing / Refusal / direct attack concepts beyond English; original benchmark remains unchanged.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1 · CHAT FIREWALL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inspection makes session-level visibility obvious.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console feeds the same input to a competent per-message baseline and Driftwatch so the difference is attributable to memory, not a weaker baseline.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989320" cy="3584448"/>
          </a:xfrm>
          <a:prstGeom prst="roundRect">
            <a:avLst>
              <a:gd name="adj" fmla="val 4082"/>
            </a:avLst>
          </a:prstGeom>
          <a:solidFill>
            <a:srgbClr val="050A0F"/>
          </a:solidFill>
          <a:ln w="12700">
            <a:solidFill>
              <a:srgbClr val="243746"/>
            </a:solidFill>
            <a:prstDash val="solid"/>
          </a:ln>
        </p:spPr>
      </p:sp>
      <p:pic>
        <p:nvPicPr>
          <p:cNvPr id="6" name="Image 0" descr="/mnt/data/driftwatch_tech_asset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03120"/>
            <a:ext cx="5769864" cy="32552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84848" y="1993392"/>
            <a:ext cx="2176272" cy="1261872"/>
          </a:xfrm>
          <a:prstGeom prst="roundRect">
            <a:avLst>
              <a:gd name="adj" fmla="val 1159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67728" y="21488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967728" y="243230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Per-message lane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6967728" y="284378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turn is classified independently. No session state means no visibility into the trajectory.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71432" y="1993392"/>
            <a:ext cx="2487168" cy="1261872"/>
          </a:xfrm>
          <a:prstGeom prst="roundRect">
            <a:avLst>
              <a:gd name="adj" fmla="val 1159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54312" y="214884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54312" y="243230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Stateful lane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9354312" y="28437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turn updates security context and correlated signals can escalate enforcement.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84848" y="3675888"/>
            <a:ext cx="4873752" cy="1901952"/>
          </a:xfrm>
          <a:prstGeom prst="roundRect">
            <a:avLst>
              <a:gd name="adj" fmla="val 7692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22592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progression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059168" y="4251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turn_01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4251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7059168" y="4480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turn_02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8366760" y="4480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7059168" y="4709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turn_03</a:t>
            </a:r>
            <a:endParaRPr lang="en-US" sz="96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4709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EBC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</a:t>
            </a:r>
            <a:endParaRPr lang="en-US" sz="960" dirty="0"/>
          </a:p>
        </p:txBody>
      </p:sp>
      <p:sp>
        <p:nvSpPr>
          <p:cNvPr id="23" name="Text 20"/>
          <p:cNvSpPr txBox="1"/>
          <p:nvPr/>
        </p:nvSpPr>
        <p:spPr>
          <a:xfrm>
            <a:off x="7059168" y="4937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turn_04</a:t>
            </a:r>
            <a:endParaRPr lang="en-US" sz="960" dirty="0"/>
          </a:p>
        </p:txBody>
      </p:sp>
      <p:sp>
        <p:nvSpPr>
          <p:cNvPr id="24" name="Text 21"/>
          <p:cNvSpPr txBox="1"/>
          <p:nvPr/>
        </p:nvSpPr>
        <p:spPr>
          <a:xfrm>
            <a:off x="8366760" y="4937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7059168" y="5166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turn_05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8366760" y="5166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TERMINATE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39227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demo coverage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9464040" y="4261104"/>
            <a:ext cx="932688" cy="283464"/>
          </a:xfrm>
          <a:prstGeom prst="roundRect">
            <a:avLst>
              <a:gd name="adj" fmla="val 51613"/>
            </a:avLst>
          </a:prstGeom>
          <a:solidFill>
            <a:srgbClr val="101D27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0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10488168" y="4261104"/>
            <a:ext cx="932688" cy="283464"/>
          </a:xfrm>
          <a:prstGeom prst="roundRect">
            <a:avLst>
              <a:gd name="adj" fmla="val 51613"/>
            </a:avLst>
          </a:prstGeom>
          <a:solidFill>
            <a:srgbClr val="101D27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533888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9464040" y="4645152"/>
            <a:ext cx="932688" cy="283464"/>
          </a:xfrm>
          <a:prstGeom prst="roundRect">
            <a:avLst>
              <a:gd name="adj" fmla="val 51613"/>
            </a:avLst>
          </a:prstGeom>
          <a:solidFill>
            <a:srgbClr val="101D27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509760" y="46542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Deutsch</a:t>
            </a:r>
            <a:endParaRPr lang="en-US" sz="940" dirty="0"/>
          </a:p>
        </p:txBody>
      </p:sp>
      <p:sp>
        <p:nvSpPr>
          <p:cNvPr id="34" name="Shape 31"/>
          <p:cNvSpPr/>
          <p:nvPr/>
        </p:nvSpPr>
        <p:spPr>
          <a:xfrm>
            <a:off x="10488168" y="4645152"/>
            <a:ext cx="932688" cy="283464"/>
          </a:xfrm>
          <a:prstGeom prst="roundRect">
            <a:avLst>
              <a:gd name="adj" fmla="val 51613"/>
            </a:avLst>
          </a:prstGeom>
          <a:solidFill>
            <a:srgbClr val="101D27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533888" y="46542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Русский</a:t>
            </a:r>
            <a:endParaRPr lang="en-US" sz="940" dirty="0"/>
          </a:p>
        </p:txBody>
      </p:sp>
      <p:sp>
        <p:nvSpPr>
          <p:cNvPr id="36" name="Shape 33"/>
          <p:cNvSpPr/>
          <p:nvPr/>
        </p:nvSpPr>
        <p:spPr>
          <a:xfrm>
            <a:off x="9464040" y="5029200"/>
            <a:ext cx="932688" cy="283464"/>
          </a:xfrm>
          <a:prstGeom prst="roundRect">
            <a:avLst>
              <a:gd name="adj" fmla="val 51613"/>
            </a:avLst>
          </a:prstGeom>
          <a:solidFill>
            <a:srgbClr val="101D27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509760" y="503834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हिन्दी</a:t>
            </a:r>
            <a:endParaRPr lang="en-US" sz="940" dirty="0"/>
          </a:p>
        </p:txBody>
      </p:sp>
      <p:sp>
        <p:nvSpPr>
          <p:cNvPr id="38" name="Shape 35"/>
          <p:cNvSpPr/>
          <p:nvPr/>
        </p:nvSpPr>
        <p:spPr>
          <a:xfrm>
            <a:off x="10488168" y="5029200"/>
            <a:ext cx="932688" cy="283464"/>
          </a:xfrm>
          <a:prstGeom prst="roundRect">
            <a:avLst>
              <a:gd name="adj" fmla="val 51613"/>
            </a:avLst>
          </a:prstGeom>
          <a:solidFill>
            <a:srgbClr val="101D27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533888" y="503834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中文</a:t>
            </a:r>
            <a:endParaRPr lang="en-US" sz="94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scenarios are demonstration validation, not part of the original 94.4% benchmark corpus.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2 · MCP GATEWAY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tool boundary where data movement and side effects happen.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 sees both tools/call and tool results, carries provenance forward, and checks the kill switch before allowing subsequent actions.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1572768" cy="777240"/>
          </a:xfrm>
          <a:prstGeom prst="roundRect">
            <a:avLst>
              <a:gd name="adj" fmla="val 21176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intent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743200" y="2084832"/>
            <a:ext cx="1874520" cy="777240"/>
          </a:xfrm>
          <a:prstGeom prst="roundRect">
            <a:avLst>
              <a:gd name="adj" fmla="val 21176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221284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 Gateway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51460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call + result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212080" y="2084832"/>
            <a:ext cx="1572768" cy="777240"/>
          </a:xfrm>
          <a:prstGeom prst="roundRect">
            <a:avLst>
              <a:gd name="adj" fmla="val 21176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21808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5321808" y="251460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/ compromised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315200" y="2084832"/>
            <a:ext cx="1572768" cy="777240"/>
          </a:xfrm>
          <a:prstGeom prst="roundRect">
            <a:avLst>
              <a:gd name="adj" fmla="val 21176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24928" y="22128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Data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7424928" y="2514600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/ docs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400032" y="2084832"/>
            <a:ext cx="1783080" cy="777240"/>
          </a:xfrm>
          <a:prstGeom prst="roundRect">
            <a:avLst>
              <a:gd name="adj" fmla="val 21176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0" y="221284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Sink</a:t>
            </a:r>
            <a:endParaRPr lang="en-US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2514600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/ transfer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212848" y="2468880"/>
            <a:ext cx="438912" cy="0"/>
          </a:xfrm>
          <a:prstGeom prst="line">
            <a:avLst/>
          </a:prstGeom>
          <a:noFill/>
          <a:ln w="1778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2468880"/>
            <a:ext cx="438912" cy="0"/>
          </a:xfrm>
          <a:prstGeom prst="line">
            <a:avLst/>
          </a:prstGeom>
          <a:noFill/>
          <a:ln w="1778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84848" y="2468880"/>
            <a:ext cx="438912" cy="0"/>
          </a:xfrm>
          <a:prstGeom prst="line">
            <a:avLst/>
          </a:prstGeom>
          <a:noFill/>
          <a:ln w="1778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87968" y="2468880"/>
            <a:ext cx="438912" cy="0"/>
          </a:xfrm>
          <a:prstGeom prst="line">
            <a:avLst/>
          </a:prstGeom>
          <a:noFill/>
          <a:ln w="1778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3182112"/>
            <a:ext cx="5715000" cy="2267712"/>
          </a:xfrm>
          <a:prstGeom prst="roundRect">
            <a:avLst>
              <a:gd name="adj" fmla="val 6452"/>
            </a:avLst>
          </a:prstGeom>
          <a:solidFill>
            <a:srgbClr val="050A0F"/>
          </a:solidFill>
          <a:ln w="12700">
            <a:solidFill>
              <a:srgbClr val="243746"/>
            </a:solidFill>
            <a:prstDash val="solid"/>
          </a:ln>
        </p:spPr>
      </p:sp>
      <p:pic>
        <p:nvPicPr>
          <p:cNvPr id="25" name="Image 0" descr="/mnt/data/driftwatch_tech_assets/m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291840"/>
            <a:ext cx="5495544" cy="204825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601968" y="3182112"/>
            <a:ext cx="2304288" cy="987552"/>
          </a:xfrm>
          <a:prstGeom prst="roundRect">
            <a:avLst>
              <a:gd name="adj" fmla="val 14815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84848" y="333756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784848" y="362102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Provenance</a:t>
            </a:r>
            <a:endParaRPr lang="en-US" sz="165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032504"/>
            <a:ext cx="19385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output is tagged trusted / untrusted and becomes session evidence.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125712" y="3182112"/>
            <a:ext cx="2304288" cy="987552"/>
          </a:xfrm>
          <a:prstGeom prst="roundRect">
            <a:avLst>
              <a:gd name="adj" fmla="val 14815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08592" y="333756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9308592" y="362102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Correlation</a:t>
            </a:r>
            <a:endParaRPr lang="en-US" sz="1650" dirty="0"/>
          </a:p>
        </p:txBody>
      </p:sp>
      <p:sp>
        <p:nvSpPr>
          <p:cNvPr id="33" name="Text 30"/>
          <p:cNvSpPr txBox="1"/>
          <p:nvPr/>
        </p:nvSpPr>
        <p:spPr>
          <a:xfrm>
            <a:off x="9308592" y="4032504"/>
            <a:ext cx="19385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read + untrusted content + external sink raises tool-chain risk.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601968" y="4407408"/>
            <a:ext cx="2304288" cy="987552"/>
          </a:xfrm>
          <a:prstGeom prst="roundRect">
            <a:avLst>
              <a:gd name="adj" fmla="val 14815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84848" y="456285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6784848" y="48463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Enforcement</a:t>
            </a:r>
            <a:endParaRPr lang="en-US" sz="1650" dirty="0"/>
          </a:p>
        </p:txBody>
      </p:sp>
      <p:sp>
        <p:nvSpPr>
          <p:cNvPr id="37" name="Text 34"/>
          <p:cNvSpPr txBox="1"/>
          <p:nvPr/>
        </p:nvSpPr>
        <p:spPr>
          <a:xfrm>
            <a:off x="6784848" y="5257800"/>
            <a:ext cx="19385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the sink before data leaves the boundary.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125712" y="4407408"/>
            <a:ext cx="2304288" cy="987552"/>
          </a:xfrm>
          <a:prstGeom prst="roundRect">
            <a:avLst>
              <a:gd name="adj" fmla="val 14815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08592" y="456285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QUARANTINE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9308592" y="48463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Containment</a:t>
            </a:r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9308592" y="5257800"/>
            <a:ext cx="19385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 switch quarantines the agent across future model/tool calls.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compromised-MCP demo uses JSON-RPC 2.0 methods initialize, tools/list, and tools/call.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3 · BROWSER GUARD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insider-risk enforcement to the managed browser boundary.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AI access can occur through personal accounts, so identity-based governance alone may not see the data egress. Browser Guard acts before send.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577840" cy="3611880"/>
          </a:xfrm>
          <a:prstGeom prst="roundRect">
            <a:avLst>
              <a:gd name="adj" fmla="val 4051"/>
            </a:avLst>
          </a:prstGeom>
          <a:solidFill>
            <a:srgbClr val="050A0F"/>
          </a:solidFill>
          <a:ln w="12700">
            <a:solidFill>
              <a:srgbClr val="243746"/>
            </a:solidFill>
            <a:prstDash val="solid"/>
          </a:ln>
        </p:spPr>
      </p:sp>
      <p:pic>
        <p:nvPicPr>
          <p:cNvPr id="6" name="Image 0" descr="/mnt/data/driftwatch_tech_assets/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03120"/>
            <a:ext cx="5358384" cy="32552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2148840"/>
            <a:ext cx="1508760" cy="749808"/>
          </a:xfrm>
          <a:prstGeom prst="roundRect">
            <a:avLst>
              <a:gd name="adj" fmla="val 21951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56248" y="2276856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Clipboard / Prompt</a:t>
            </a:r>
            <a:endParaRPr lang="en-US" sz="1280" dirty="0"/>
          </a:p>
        </p:txBody>
      </p:sp>
      <p:sp>
        <p:nvSpPr>
          <p:cNvPr id="9" name="Text 6"/>
          <p:cNvSpPr txBox="1"/>
          <p:nvPr/>
        </p:nvSpPr>
        <p:spPr>
          <a:xfrm>
            <a:off x="6556248" y="2578608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secret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8375904" y="2148840"/>
            <a:ext cx="1691640" cy="749808"/>
          </a:xfrm>
          <a:prstGeom prst="roundRect">
            <a:avLst>
              <a:gd name="adj" fmla="val 21951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85632" y="2276856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Guard</a:t>
            </a:r>
            <a:endParaRPr lang="en-US" sz="1280" dirty="0"/>
          </a:p>
        </p:txBody>
      </p:sp>
      <p:sp>
        <p:nvSpPr>
          <p:cNvPr id="12" name="Text 9"/>
          <p:cNvSpPr txBox="1"/>
          <p:nvPr/>
        </p:nvSpPr>
        <p:spPr>
          <a:xfrm>
            <a:off x="8485632" y="2578608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inspection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10479024" y="2148840"/>
            <a:ext cx="1188720" cy="749808"/>
          </a:xfrm>
          <a:prstGeom prst="roundRect">
            <a:avLst>
              <a:gd name="adj" fmla="val 21951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88752" y="227685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AI</a:t>
            </a:r>
            <a:endParaRPr lang="en-US" sz="1280" dirty="0"/>
          </a:p>
        </p:txBody>
      </p:sp>
      <p:sp>
        <p:nvSpPr>
          <p:cNvPr id="15" name="Text 12"/>
          <p:cNvSpPr txBox="1"/>
          <p:nvPr/>
        </p:nvSpPr>
        <p:spPr>
          <a:xfrm>
            <a:off x="10588752" y="25786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 / Claude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7973568" y="2523744"/>
            <a:ext cx="365760" cy="0"/>
          </a:xfrm>
          <a:prstGeom prst="line">
            <a:avLst/>
          </a:prstGeom>
          <a:noFill/>
          <a:ln w="1651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0085832" y="2523744"/>
            <a:ext cx="356616" cy="0"/>
          </a:xfrm>
          <a:prstGeom prst="line">
            <a:avLst/>
          </a:prstGeom>
          <a:noFill/>
          <a:ln w="1651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446520" y="3246120"/>
            <a:ext cx="2487168" cy="1097280"/>
          </a:xfrm>
          <a:prstGeom prst="roundRect">
            <a:avLst>
              <a:gd name="adj" fmla="val 13333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29400" y="340156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68503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detection</a:t>
            </a:r>
            <a:endParaRPr lang="en-US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4096512"/>
            <a:ext cx="2121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High-confidence credential patterns can be blocked without sending raw secrets to a central service.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71432" y="3246120"/>
            <a:ext cx="2496312" cy="1097280"/>
          </a:xfrm>
          <a:prstGeom prst="roundRect">
            <a:avLst>
              <a:gd name="adj" fmla="val 13333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54312" y="340156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INSIDER RISK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354312" y="3685032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Destination-aware policy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4096512"/>
            <a:ext cx="2130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/ public AI destination + sensitive data can raise the policy action.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46520" y="4590288"/>
            <a:ext cx="2487168" cy="987552"/>
          </a:xfrm>
          <a:prstGeom prst="roundRect">
            <a:avLst>
              <a:gd name="adj" fmla="val 14815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29400" y="474573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629400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today</a:t>
            </a:r>
            <a:endParaRPr lang="en-US" sz="1650" dirty="0"/>
          </a:p>
        </p:txBody>
      </p:sp>
      <p:sp>
        <p:nvSpPr>
          <p:cNvPr id="29" name="Text 26"/>
          <p:cNvSpPr txBox="1"/>
          <p:nvPr/>
        </p:nvSpPr>
        <p:spPr>
          <a:xfrm>
            <a:off x="6629400" y="5440680"/>
            <a:ext cx="212140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interception, secret-aware inspection, session risk panel.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171432" y="4590288"/>
            <a:ext cx="2496312" cy="987552"/>
          </a:xfrm>
          <a:prstGeom prst="roundRect">
            <a:avLst>
              <a:gd name="adj" fmla="val 14815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54312" y="4745736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9354312" y="502920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path</a:t>
            </a:r>
            <a:endParaRPr lang="en-US" sz="1650" dirty="0"/>
          </a:p>
        </p:txBody>
      </p:sp>
      <p:sp>
        <p:nvSpPr>
          <p:cNvPr id="33" name="Text 30"/>
          <p:cNvSpPr txBox="1"/>
          <p:nvPr/>
        </p:nvSpPr>
        <p:spPr>
          <a:xfrm>
            <a:off x="9354312" y="5440680"/>
            <a:ext cx="213055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submit, file upload inspection, managed policy, endpoint identity, SOC telemetry.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SaaS is not “quarantined”; the managed browser is the enforcement point.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SECURITY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changes the content; the trust policy should remain stable.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 V2 includes multilingual demonstration scenarios for Chat Firewall and compromised-MCP flows in six languages.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834640" cy="1325880"/>
          </a:xfrm>
          <a:prstGeom prst="roundRect">
            <a:avLst>
              <a:gd name="adj" fmla="val 1103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50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072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probing / refusal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2212848" y="3118104"/>
            <a:ext cx="1024128" cy="283464"/>
          </a:xfrm>
          <a:prstGeom prst="roundRect">
            <a:avLst>
              <a:gd name="adj" fmla="val 51613"/>
            </a:avLst>
          </a:prstGeom>
          <a:solidFill>
            <a:srgbClr val="101F2D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58568" y="31272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VALIDATED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069080" y="2148840"/>
            <a:ext cx="2834640" cy="1325880"/>
          </a:xfrm>
          <a:prstGeom prst="roundRect">
            <a:avLst>
              <a:gd name="adj" fmla="val 1103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2350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Français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8072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Sonde de secrets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641848" y="3118104"/>
            <a:ext cx="1024128" cy="283464"/>
          </a:xfrm>
          <a:prstGeom prst="roundRect">
            <a:avLst>
              <a:gd name="adj" fmla="val 51613"/>
            </a:avLst>
          </a:prstGeom>
          <a:solidFill>
            <a:srgbClr val="101F2D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87568" y="31272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VALIDATED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498080" y="2148840"/>
            <a:ext cx="2834640" cy="1325880"/>
          </a:xfrm>
          <a:prstGeom prst="roundRect">
            <a:avLst>
              <a:gd name="adj" fmla="val 1103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2350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Deutsch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8072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Geheimnis-Abfrage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070848" y="3118104"/>
            <a:ext cx="1024128" cy="283464"/>
          </a:xfrm>
          <a:prstGeom prst="roundRect">
            <a:avLst>
              <a:gd name="adj" fmla="val 51613"/>
            </a:avLst>
          </a:prstGeom>
          <a:solidFill>
            <a:srgbClr val="101F2D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16568" y="31272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VALIDATED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2834640" cy="1325880"/>
          </a:xfrm>
          <a:prstGeom prst="roundRect">
            <a:avLst>
              <a:gd name="adj" fmla="val 1103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78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Русский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Запрос секретов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2212848" y="4946904"/>
            <a:ext cx="1024128" cy="283464"/>
          </a:xfrm>
          <a:prstGeom prst="roundRect">
            <a:avLst>
              <a:gd name="adj" fmla="val 51613"/>
            </a:avLst>
          </a:prstGeom>
          <a:solidFill>
            <a:srgbClr val="101F2D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58568" y="4956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VALIDATED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069080" y="3977640"/>
            <a:ext cx="2834640" cy="1325880"/>
          </a:xfrm>
          <a:prstGeom prst="roundRect">
            <a:avLst>
              <a:gd name="adj" fmla="val 1103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4178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हिन्दी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25196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सीक्रेट probing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5641848" y="4946904"/>
            <a:ext cx="1024128" cy="283464"/>
          </a:xfrm>
          <a:prstGeom prst="roundRect">
            <a:avLst>
              <a:gd name="adj" fmla="val 51613"/>
            </a:avLst>
          </a:prstGeom>
          <a:solidFill>
            <a:srgbClr val="101F2D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87568" y="4956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VALIDATED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7498080" y="3977640"/>
            <a:ext cx="2834640" cy="1325880"/>
          </a:xfrm>
          <a:prstGeom prst="roundRect">
            <a:avLst>
              <a:gd name="adj" fmla="val 11034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4178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中文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4636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敏感信息探测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9070848" y="4946904"/>
            <a:ext cx="1024128" cy="283464"/>
          </a:xfrm>
          <a:prstGeom prst="roundRect">
            <a:avLst>
              <a:gd name="adj" fmla="val 51613"/>
            </a:avLst>
          </a:prstGeom>
          <a:solidFill>
            <a:srgbClr val="101F2D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16568" y="495604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VALIDATED</a:t>
            </a:r>
            <a:endParaRPr lang="en-US" sz="94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multilingual scenarios are prototype validation and are not counted inside the original English evaluation benchmark.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 one message is not the same as containing a compromised agent.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Multi-turn attacks may be detected after earlier actions have already occurred, so Driftwatch maintains retroactive attribution and a durable quarantine state.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4597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starts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76148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turns pass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743200" y="233172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24597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correlate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76148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crosses policy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828032" y="233172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4597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TERMINATE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76148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session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912864" y="2331720"/>
            <a:ext cx="1554480" cy="822960"/>
          </a:xfrm>
          <a:prstGeom prst="roundRect">
            <a:avLst>
              <a:gd name="adj" fmla="val 20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22592" y="24597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 switch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7022592" y="276148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quarantine identity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97696" y="2331720"/>
            <a:ext cx="2011680" cy="822960"/>
          </a:xfrm>
          <a:prstGeom prst="roundRect">
            <a:avLst>
              <a:gd name="adj" fmla="val 20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07424" y="245973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requests</a:t>
            </a:r>
            <a:endParaRPr lang="en-US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9107424" y="276148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+ tool calls refused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212848" y="2743200"/>
            <a:ext cx="457200" cy="0"/>
          </a:xfrm>
          <a:prstGeom prst="line">
            <a:avLst/>
          </a:prstGeom>
          <a:noFill/>
          <a:ln w="17780">
            <a:solidFill>
              <a:srgbClr val="FF718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97680" y="2743200"/>
            <a:ext cx="457200" cy="0"/>
          </a:xfrm>
          <a:prstGeom prst="line">
            <a:avLst/>
          </a:prstGeom>
          <a:noFill/>
          <a:ln w="17780">
            <a:solidFill>
              <a:srgbClr val="FF718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2743200"/>
            <a:ext cx="457200" cy="0"/>
          </a:xfrm>
          <a:prstGeom prst="line">
            <a:avLst/>
          </a:prstGeom>
          <a:noFill/>
          <a:ln w="17780">
            <a:solidFill>
              <a:srgbClr val="FF718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67344" y="2743200"/>
            <a:ext cx="457200" cy="0"/>
          </a:xfrm>
          <a:prstGeom prst="line">
            <a:avLst/>
          </a:prstGeom>
          <a:noFill/>
          <a:ln w="17780">
            <a:solidFill>
              <a:srgbClr val="FF718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3886200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404164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FORENSICS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325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Retroactive attribution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736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record of what happened before detection: released records, reached sinks, tool history, and triggering signals.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98848" y="3886200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81728" y="404164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681728" y="4325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containment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4681728" y="4736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quarantined agent is refused even when the next individual request looks benign.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83296" y="3886200"/>
            <a:ext cx="315468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66176" y="404164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66176" y="4325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release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8266176" y="4736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Containment persists until an explicit administrative release clears the quarantine.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Guard uses warn/block at the browser boundary; full agent quarantine applies where Driftwatch controls agent/model/tool traffic.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engine, different interception point.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 architecture can run stateless inspection instances behind a load balancer with shared session/quarantine state, while preserving local-first browser detection for secrets.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537960" cy="3246120"/>
          </a:xfrm>
          <a:prstGeom prst="roundRect">
            <a:avLst>
              <a:gd name="adj" fmla="val 450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topology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953512"/>
            <a:ext cx="1325880" cy="685800"/>
          </a:xfrm>
          <a:prstGeom prst="roundRect">
            <a:avLst>
              <a:gd name="adj" fmla="val 24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08152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</a:t>
            </a:r>
            <a:endParaRPr lang="en-US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383280"/>
            <a:ext cx="1106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/ agents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2606040" y="2953512"/>
            <a:ext cx="1417320" cy="685800"/>
          </a:xfrm>
          <a:prstGeom prst="roundRect">
            <a:avLst>
              <a:gd name="adj" fmla="val 24000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308152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Balancer</a:t>
            </a:r>
            <a:endParaRPr lang="en-US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2715768" y="3383280"/>
            <a:ext cx="11978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fleet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98848" y="2670048"/>
            <a:ext cx="1508760" cy="685800"/>
          </a:xfrm>
          <a:prstGeom prst="roundRect">
            <a:avLst>
              <a:gd name="adj" fmla="val 24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8576" y="279806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 A</a:t>
            </a:r>
            <a:endParaRPr lang="en-US" sz="128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3099816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inspect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498848" y="3547872"/>
            <a:ext cx="1508760" cy="685800"/>
          </a:xfrm>
          <a:prstGeom prst="roundRect">
            <a:avLst>
              <a:gd name="adj" fmla="val 24000"/>
            </a:avLst>
          </a:prstGeom>
          <a:solidFill>
            <a:srgbClr val="0B2733"/>
          </a:solidFill>
          <a:ln w="15240">
            <a:solidFill>
              <a:srgbClr val="2C7D9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08576" y="3675888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 B</a:t>
            </a:r>
            <a:endParaRPr lang="en-US" sz="128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3977640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inspect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327648" y="2953512"/>
            <a:ext cx="530352" cy="1261872"/>
          </a:xfrm>
          <a:prstGeom prst="roundRect">
            <a:avLst>
              <a:gd name="adj" fmla="val 31034"/>
            </a:avLst>
          </a:prstGeom>
          <a:solidFill>
            <a:srgbClr val="0D1925"/>
          </a:solidFill>
          <a:ln w="15240">
            <a:solidFill>
              <a:srgbClr val="2237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7376" y="308152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8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3383280"/>
            <a:ext cx="310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31546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3300984"/>
            <a:ext cx="429768" cy="0"/>
          </a:xfrm>
          <a:prstGeom prst="line">
            <a:avLst/>
          </a:prstGeom>
          <a:noFill/>
          <a:ln w="1524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41648" y="3300984"/>
            <a:ext cx="420624" cy="-283464"/>
          </a:xfrm>
          <a:prstGeom prst="line">
            <a:avLst/>
          </a:prstGeom>
          <a:noFill/>
          <a:ln w="1524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41648" y="3300984"/>
            <a:ext cx="420624" cy="566928"/>
          </a:xfrm>
          <a:prstGeom prst="line">
            <a:avLst/>
          </a:prstGeom>
          <a:noFill/>
          <a:ln w="1524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07608" y="3017520"/>
            <a:ext cx="283464" cy="228600"/>
          </a:xfrm>
          <a:prstGeom prst="line">
            <a:avLst/>
          </a:prstGeom>
          <a:noFill/>
          <a:ln w="1397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07608" y="3867912"/>
            <a:ext cx="283464" cy="-356616"/>
          </a:xfrm>
          <a:prstGeom prst="line">
            <a:avLst/>
          </a:prstGeom>
          <a:noFill/>
          <a:ln w="13970">
            <a:solidFill>
              <a:srgbClr val="43DDF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22960" y="4645152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or equivalent shared state enables any inspection instance to continue the same session and quarantine decision.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88352" y="2103120"/>
            <a:ext cx="4251960" cy="3246120"/>
          </a:xfrm>
          <a:prstGeom prst="roundRect">
            <a:avLst>
              <a:gd name="adj" fmla="val 4507"/>
            </a:avLst>
          </a:prstGeom>
          <a:solidFill>
            <a:srgbClr val="0A141E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44384" y="2340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Microsoft-native integration path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28986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OpenAI</a:t>
            </a:r>
            <a:endParaRPr lang="en-US" sz="1080" dirty="0"/>
          </a:p>
        </p:txBody>
      </p:sp>
      <p:sp>
        <p:nvSpPr>
          <p:cNvPr id="32" name="Text 30"/>
          <p:cNvSpPr txBox="1"/>
          <p:nvPr/>
        </p:nvSpPr>
        <p:spPr>
          <a:xfrm>
            <a:off x="9308592" y="289864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model target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662672" y="33192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Shields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9308592" y="33192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per-input attack signal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662672" y="37398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Purview</a:t>
            </a:r>
            <a:endParaRPr lang="en-US" sz="1080" dirty="0"/>
          </a:p>
        </p:txBody>
      </p:sp>
      <p:sp>
        <p:nvSpPr>
          <p:cNvPr id="36" name="Text 34"/>
          <p:cNvSpPr txBox="1"/>
          <p:nvPr/>
        </p:nvSpPr>
        <p:spPr>
          <a:xfrm>
            <a:off x="9308592" y="37398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/ sensitivity context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662672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Agent ID</a:t>
            </a:r>
            <a:endParaRPr lang="en-US" sz="1080" dirty="0"/>
          </a:p>
        </p:txBody>
      </p:sp>
      <p:sp>
        <p:nvSpPr>
          <p:cNvPr id="38" name="Text 36"/>
          <p:cNvSpPr txBox="1"/>
          <p:nvPr/>
        </p:nvSpPr>
        <p:spPr>
          <a:xfrm>
            <a:off x="9308592" y="416052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agent identity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662672" y="45811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Sentinel</a:t>
            </a:r>
            <a:endParaRPr lang="en-US" sz="1080" dirty="0"/>
          </a:p>
        </p:txBody>
      </p:sp>
      <p:sp>
        <p:nvSpPr>
          <p:cNvPr id="40" name="Text 38"/>
          <p:cNvSpPr txBox="1"/>
          <p:nvPr/>
        </p:nvSpPr>
        <p:spPr>
          <a:xfrm>
            <a:off x="9308592" y="4581144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telemetry + investigation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integration paths / architecture targets; the current hackathon prototype does not claim all services are wired live.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evaluation results + V2 prototype checks.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numbers are from the original supplied evaluation corpus; V2 browser/multilingual checks are reported separately to avoid mixing different test scopes.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196596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33172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94.4%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834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multi-turn attack detection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807208" y="2121408"/>
            <a:ext cx="196596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233172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834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single-turn attack detection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065776" y="2121408"/>
            <a:ext cx="196596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33172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834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false positives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current corpus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24344" y="2121408"/>
            <a:ext cx="196596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0648" y="233172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~1.3 ms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470648" y="2834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inspection latency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582912" y="2121408"/>
            <a:ext cx="1965960" cy="1371600"/>
          </a:xfrm>
          <a:prstGeom prst="roundRect">
            <a:avLst>
              <a:gd name="adj" fmla="val 10667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29216" y="233172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69.5%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729216" y="2834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data-loss reduction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theft scenarios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5532120" cy="1417320"/>
          </a:xfrm>
          <a:prstGeom prst="roundRect">
            <a:avLst>
              <a:gd name="adj" fmla="val 10323"/>
            </a:avLst>
          </a:prstGeom>
          <a:solidFill>
            <a:srgbClr val="0A1C25"/>
          </a:solidFill>
          <a:ln w="12700">
            <a:solidFill>
              <a:srgbClr val="2845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 prototype validation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6227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Browser Guard secret-blocking flow validated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Multilingual demo scenarios validated across six languages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Compromised-MCP multilingual scenarios block sink + quarantine agent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6327648" y="3858768"/>
            <a:ext cx="5303520" cy="1417320"/>
          </a:xfrm>
          <a:prstGeom prst="roundRect">
            <a:avLst>
              <a:gd name="adj" fmla="val 10323"/>
            </a:avLst>
          </a:prstGeom>
          <a:solidFill>
            <a:srgbClr val="15181B"/>
          </a:solidFill>
          <a:ln w="12700">
            <a:solidFill>
              <a:srgbClr val="604B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BC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guardrail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4622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C8B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multilingual scenarios are demo validation only and are not included in the original 94.4% benchmark. The benchmark should be presented as prototype corpus results, not a production guarantee.</a:t>
            </a:r>
            <a:endParaRPr lang="en-US" sz="107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benchmark to show the stateful advantage, not to imply universal detection accuracy.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 today versus what is deliberately left for productionization.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hackathon prototype is runnable end-to-end and includes separate live demos for chat, MCP, and browser egress.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5321808" cy="3566160"/>
          </a:xfrm>
          <a:prstGeom prst="roundRect">
            <a:avLst>
              <a:gd name="adj" fmla="val 4103"/>
            </a:avLst>
          </a:prstGeom>
          <a:solidFill>
            <a:srgbClr val="0B1E26"/>
          </a:solidFill>
          <a:ln w="12700">
            <a:solidFill>
              <a:srgbClr val="2B63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225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/ WORKING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77063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Stateful engine + per-session state</a:t>
            </a:r>
            <a:endParaRPr lang="en-US" sz="102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5409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Five session-level detectors</a:t>
            </a:r>
            <a:endParaRPr lang="en-US" sz="102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33756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Kill switch + quarantine registry</a:t>
            </a:r>
            <a:endParaRPr lang="en-US" sz="102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62102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JSON-RPC 2.0 MCP server + gateway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9044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Clean + compromised MCP modes</a:t>
            </a:r>
            <a:endParaRPr lang="en-US" sz="102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18795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Live web console + evaluation harness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447141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Browser Guard extension for ChatGPT / Claude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475488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Multilingual Chat/MCP demo scenarios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503834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TLS demo path + telemetry-shaped events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236208" y="2057400"/>
            <a:ext cx="5321808" cy="3566160"/>
          </a:xfrm>
          <a:prstGeom prst="roundRect">
            <a:avLst>
              <a:gd name="adj" fmla="val 4103"/>
            </a:avLst>
          </a:prstGeom>
          <a:solidFill>
            <a:srgbClr val="12171D"/>
          </a:solidFill>
          <a:ln w="12700">
            <a:solidFill>
              <a:srgbClr val="4C59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2322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29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PATH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277063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Real Azure OpenAI model target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05409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Live Prompt Shields adapter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33756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Managed browser policy distribution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362102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Typed-message + file-upload inspection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39044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Cross-session memory poisoning detection</a:t>
            </a:r>
            <a:endParaRPr lang="en-US" sz="102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18795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Shared Redis session/quarantine store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447141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Cross-agent trust propagation</a:t>
            </a:r>
            <a:endParaRPr lang="en-US" sz="102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475488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Purview / Entra enrichment at scale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6510528" y="503834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Full MCP interoperability + enterprise hardening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deliberately separates “built” from “integration target” to keep the architecture credible.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4944"/>
            <a:ext cx="1110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hackathon prototype to enterprise AI security control.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2646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integration, shared state, browser policy management, and cross-session / cross-agent trust propagation.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1993392" cy="2889504"/>
          </a:xfrm>
          <a:prstGeom prst="roundRect">
            <a:avLst>
              <a:gd name="adj" fmla="val 7339"/>
            </a:avLst>
          </a:prstGeom>
          <a:solidFill>
            <a:srgbClr val="0A2632"/>
          </a:solidFill>
          <a:ln w="12700">
            <a:solidFill>
              <a:srgbClr val="2C7D9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5059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62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19856"/>
            <a:ext cx="1618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Azure OpenAI + live Prompt Shields + production certs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651760" y="3675888"/>
            <a:ext cx="228600" cy="0"/>
          </a:xfrm>
          <a:prstGeom prst="line">
            <a:avLst/>
          </a:prstGeom>
          <a:noFill/>
          <a:ln w="12700">
            <a:solidFill>
              <a:srgbClr val="3E617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2240280"/>
            <a:ext cx="1993392" cy="2889504"/>
          </a:xfrm>
          <a:prstGeom prst="roundRect">
            <a:avLst>
              <a:gd name="adj" fmla="val 733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0672" y="245059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2862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3419856"/>
            <a:ext cx="1618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session store + HA gateway fleet + observability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919472" y="3675888"/>
            <a:ext cx="228600" cy="0"/>
          </a:xfrm>
          <a:prstGeom prst="line">
            <a:avLst/>
          </a:prstGeom>
          <a:noFill/>
          <a:ln w="12700">
            <a:solidFill>
              <a:srgbClr val="3E61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93792" y="2240280"/>
            <a:ext cx="1993392" cy="2889504"/>
          </a:xfrm>
          <a:prstGeom prst="roundRect">
            <a:avLst>
              <a:gd name="adj" fmla="val 733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58384" y="245059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58384" y="2862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58384" y="3419856"/>
            <a:ext cx="1618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Purview / Entra context + managed Browser Guard policy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187184" y="3675888"/>
            <a:ext cx="228600" cy="0"/>
          </a:xfrm>
          <a:prstGeom prst="line">
            <a:avLst/>
          </a:prstGeom>
          <a:noFill/>
          <a:ln w="12700">
            <a:solidFill>
              <a:srgbClr val="3E617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61504" y="2240280"/>
            <a:ext cx="1993392" cy="2889504"/>
          </a:xfrm>
          <a:prstGeom prst="roundRect">
            <a:avLst>
              <a:gd name="adj" fmla="val 733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6096" y="245059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26096" y="2862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626096" y="3419856"/>
            <a:ext cx="1618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Typed/file egress inspection + full MCP interoperability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454896" y="3675888"/>
            <a:ext cx="228600" cy="0"/>
          </a:xfrm>
          <a:prstGeom prst="line">
            <a:avLst/>
          </a:prstGeom>
          <a:noFill/>
          <a:ln w="12700">
            <a:solidFill>
              <a:srgbClr val="3E617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29216" y="2240280"/>
            <a:ext cx="1993392" cy="2889504"/>
          </a:xfrm>
          <a:prstGeom prst="roundRect">
            <a:avLst>
              <a:gd name="adj" fmla="val 7339"/>
            </a:avLst>
          </a:prstGeom>
          <a:solidFill>
            <a:srgbClr val="0D1925"/>
          </a:solidFill>
          <a:ln w="12700">
            <a:solidFill>
              <a:srgbClr val="263C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93808" y="245059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893808" y="2862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893808" y="3419856"/>
            <a:ext cx="1618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Cross-session memory poisoning + multi-agent handoff trust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3776472" y="5513832"/>
            <a:ext cx="4617720" cy="283464"/>
          </a:xfrm>
          <a:prstGeom prst="roundRect">
            <a:avLst>
              <a:gd name="adj" fmla="val 51613"/>
            </a:avLst>
          </a:prstGeom>
          <a:solidFill>
            <a:srgbClr val="0D211B"/>
          </a:solidFill>
          <a:ln w="8890">
            <a:solidFill>
              <a:srgbClr val="284A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22192" y="55229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CE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ROLLOUT: DRY-RUN → TUNE → ENFORCE</a:t>
            </a:r>
            <a:endParaRPr lang="en-US" sz="94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0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should be tuned against real enterprise traffic before enforcement.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digital_cybersecurity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019">
              <a:alpha val="92000"/>
            </a:srgbClr>
          </a:solidFill>
          <a:ln w="12700">
            <a:solidFill>
              <a:srgbClr val="071019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658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3DD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DRIFTWATCH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2344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session.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agent.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data leaving the browser.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42900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5D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stateful AI security control plane across conversations, tools, and public AI destinations.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470916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0B1721"/>
          </a:solidFill>
          <a:ln w="12700">
            <a:solidFill>
              <a:srgbClr val="274052"/>
            </a:solidFill>
            <a:prstDash val="solid"/>
          </a:ln>
        </p:spPr>
      </p:sp>
      <p:pic>
        <p:nvPicPr>
          <p:cNvPr id="9" name="Image 1" descr="/mnt/data/driftwatch_site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64608"/>
            <a:ext cx="841248" cy="8412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19072" y="48554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site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719072" y="51937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rohitanandriso.github.io/driftwatch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3182112" y="470916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0B1721"/>
          </a:solidFill>
          <a:ln w="12700">
            <a:solidFill>
              <a:srgbClr val="274052"/>
            </a:solidFill>
            <a:prstDash val="solid"/>
          </a:ln>
        </p:spPr>
      </p:sp>
      <p:pic>
        <p:nvPicPr>
          <p:cNvPr id="13" name="Image 2" descr="/mnt/data/driftwatch_repo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864608"/>
            <a:ext cx="841248" cy="8412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06824" y="48554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code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4306824" y="51937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github.com/rohitanandriso/driftwatch</a:t>
            </a:r>
            <a:endParaRPr lang="en-US" sz="880" dirty="0"/>
          </a:p>
        </p:txBody>
      </p:sp>
      <p:sp>
        <p:nvSpPr>
          <p:cNvPr id="16" name="Text 11"/>
          <p:cNvSpPr txBox="1"/>
          <p:nvPr/>
        </p:nvSpPr>
        <p:spPr>
          <a:xfrm>
            <a:off x="594360" y="6291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1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Rohit Anand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Microsoft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Driftwatch — Technical Architecture &amp; Security Design</dc:title>
  <dc:subject>Driftwatch Technical Architecture</dc:subject>
  <dc:creator>Rohit Anand</dc:creator>
  <cp:lastModifiedBy>Rohit Anand</cp:lastModifiedBy>
  <cp:revision>1</cp:revision>
  <dcterms:created xsi:type="dcterms:W3CDTF">2026-09-20T05:32:37Z</dcterms:created>
  <dcterms:modified xsi:type="dcterms:W3CDTF">2026-09-20T05:32:37Z</dcterms:modified>
</cp:coreProperties>
</file>